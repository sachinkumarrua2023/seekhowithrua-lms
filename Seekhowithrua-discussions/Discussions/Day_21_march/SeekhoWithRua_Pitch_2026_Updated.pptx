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A0A0B8"/>
                </a:solidFill>
                <a:latin typeface="Arial"/>
              </a:defRPr>
            </a:pPr>
            <a:r>
              <a:rPr sz="1800" b="0" i="0" u="none" strike="noStrike">
                <a:solidFill>
                  <a:srgbClr val="A0A0B8"/>
                </a:solidFill>
                <a:latin typeface="Arial"/>
              </a:rPr>
              <a:t>5-Year Revenue (₹ Lacs)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Lacs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25</c:v>
                </c:pt>
                <c:pt idx="2">
                  <c:v>150</c:v>
                </c:pt>
                <c:pt idx="3">
                  <c:v>600</c:v>
                </c:pt>
                <c:pt idx="4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0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0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0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/mnt/user-data/uploads/MasterRua_Logo_Ref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6420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Rider, Not a Runner.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 AI + Gamified + Memory-Science + Voice Community Learning Ecosystem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0" y="3218688"/>
            <a:ext cx="2103120" cy="658368"/>
          </a:xfrm>
          <a:prstGeom prst="rect">
            <a:avLst>
              <a:gd name="adj" fmla="val 11111"/>
            </a:avLst>
          </a:prstGeom>
          <a:solidFill>
            <a:srgbClr val="0A0A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547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EdTech 2030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11880" y="3218688"/>
            <a:ext cx="2103120" cy="658368"/>
          </a:xfrm>
          <a:prstGeom prst="rect">
            <a:avLst>
              <a:gd name="adj" fmla="val 11111"/>
            </a:avLst>
          </a:prstGeom>
          <a:solidFill>
            <a:srgbClr val="0A0A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611880" y="3547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Learners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3218688"/>
            <a:ext cx="2103120" cy="658368"/>
          </a:xfrm>
          <a:prstGeom prst="rect">
            <a:avLst>
              <a:gd name="adj" fmla="val 11111"/>
            </a:avLst>
          </a:prstGeom>
          <a:solidFill>
            <a:srgbClr val="0A0A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26480" y="3547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Ask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39776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•  CONFIDENTIAL  • 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seekhowithrua.com  ·  Master Rua (Sachin Kumar)  ·  WhatsApp: 8826776018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India's Education System is Failing 500M Students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0A0A1A"/>
          </a:solidFill>
          <a:ln w="635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1430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69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70% Forgotten in 24 Hours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80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 Forgetting Curve — PLOS ONE 2015. Passive learning = passive forgetting.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21992"/>
            <a:ext cx="4160520" cy="1143000"/>
          </a:xfrm>
          <a:prstGeom prst="rect">
            <a:avLst/>
          </a:prstGeom>
          <a:solidFill>
            <a:srgbClr val="0A0A1A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21992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Is Replacing Specialists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6426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 2023: Only 25% of 1.5M annual engineers are employable. One-skill humans are obsolete.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483864"/>
            <a:ext cx="4160520" cy="114300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83864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Learning is Passive &amp; Boring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904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Udemy — watch and forget. No interactivity, no retention, no real-world simulation.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0A0A1A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069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Memory Science Costs ₹Lakhs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1380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WMSC-level memory training sold for ₹30K–1L. Zero access for average Indian students.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221992"/>
            <a:ext cx="4160520" cy="1143000"/>
          </a:xfrm>
          <a:prstGeom prst="rect">
            <a:avLst/>
          </a:prstGeom>
          <a:solidFill>
            <a:srgbClr val="0A0A1A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21992"/>
            <a:ext cx="54864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Skills Live in Silos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26426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CodeChef, Kaggle, Coursera — no platform unifies AI, gaming, community, memory &amp; monetization.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483864"/>
            <a:ext cx="4160520" cy="1143000"/>
          </a:xfrm>
          <a:prstGeom prst="rect">
            <a:avLst/>
          </a:prstGeom>
          <a:solidFill>
            <a:srgbClr val="0A0A1A"/>
          </a:solidFill>
          <a:ln w="635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483864"/>
            <a:ext cx="54864" cy="1143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System Built for Factories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904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1800s design. For workers who follow instructions. Not thinkers, creators, or allrounders.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SOLUTION EXISTS: SeekhoWithRua 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 = LinkedIn + YouTube + CodeChef + Kaggle + Free Fire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Supercharged with AI, Memory Science, Voice Rooms &amp; Recommendation Engine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697480" cy="150876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22529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 AI Learning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1645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animated. 8 courses. 170+ SEO pages. Three.js + GSAP animations.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136392" y="1097280"/>
            <a:ext cx="2697480" cy="1508760"/>
          </a:xfrm>
          <a:prstGeom prst="rect">
            <a:avLst/>
          </a:prstGeom>
          <a:solidFill>
            <a:srgbClr val="0A0A1A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109728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122529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30752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HatimAI Game Mode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27832" y="1645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dungeon — real problems block your path. Free Fire quiz battles with armor system.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016752" y="1097280"/>
            <a:ext cx="2697480" cy="1508760"/>
          </a:xfrm>
          <a:prstGeom prst="rect">
            <a:avLst/>
          </a:prstGeom>
          <a:solidFill>
            <a:srgbClr val="0A0A1A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097280"/>
            <a:ext cx="54864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1225296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1112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Champion Arena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08192" y="16459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WMSC techniques. ₹1L training — free. 400 numbers in 21 days. Proven in 10–15 schools.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56032" y="2761488"/>
            <a:ext cx="2697480" cy="1508760"/>
          </a:xfrm>
          <a:prstGeom prst="rect">
            <a:avLst/>
          </a:prstGeom>
          <a:solidFill>
            <a:srgbClr val="0A0A1A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761488"/>
            <a:ext cx="54864" cy="1508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" y="2889504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Rooms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" y="33101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WebRTC. Learning, hiring, debates, hackathons. YouTube-style panel recommendations.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136392" y="2761488"/>
            <a:ext cx="2697480" cy="1508760"/>
          </a:xfrm>
          <a:prstGeom prst="rect">
            <a:avLst/>
          </a:prstGeom>
          <a:solidFill>
            <a:srgbClr val="0A0A1A"/>
          </a:solidFill>
          <a:ln w="635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36392" y="2761488"/>
            <a:ext cx="54864" cy="15087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2889504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0752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Title System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27832" y="33101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→ Mr. Rua → Master Rua. Tech + physical + creative = irreplaceable human.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016752" y="2761488"/>
            <a:ext cx="2697480" cy="1508760"/>
          </a:xfrm>
          <a:prstGeom prst="rect">
            <a:avLst/>
          </a:prstGeom>
          <a:solidFill>
            <a:srgbClr val="0A0A1A"/>
          </a:solidFill>
          <a:ln w="635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6752" y="2761488"/>
            <a:ext cx="54864" cy="15087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53912" y="2889504"/>
            <a:ext cx="347472" cy="34747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11112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Monetisation Loop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08192" y="33101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· Razorpay payments · AdSense in-room ads · Creator 70% revenue share.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platform: LEARN → PRACTICE → BATTLE → GET HIRED → EARN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 · Razorpay · Security · CI/CD — Enterprise-Grade from Day One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600200"/>
          </a:xfrm>
          <a:prstGeom prst="rect">
            <a:avLst/>
          </a:prstGeom>
          <a:solidFill>
            <a:srgbClr val="0A0A1A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Google OAuth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sign-in via Google. django-allauth + @react-oauth/google. No password friction. Auto-creates profile on first login. Works alongside email auth.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1600200"/>
          </a:xfrm>
          <a:prstGeom prst="rect">
            <a:avLst/>
          </a:prstGeom>
          <a:solidFill>
            <a:srgbClr val="0A0A1A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54864" cy="1600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Razorpay Payments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813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plans: ₹149/mo audience, ₹2000 host activation, ₹499/mo creator pro, ₹999/mo B2B. Instant order creation + server-side signature verification. UPI, cards, net banking.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206240" cy="1600200"/>
          </a:xfrm>
          <a:prstGeom prst="rect">
            <a:avLst/>
          </a:prstGeom>
          <a:solidFill>
            <a:srgbClr val="0A0A1A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54864" cy="1600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In-Room Ad Monetisation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2186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AdSense banners in panel sidebar for hosts with 1,000+ followers. Platform keeps 30%, pays 70% to creator monthly. KYC at 1K follower milestone.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4206240" cy="1600200"/>
          </a:xfrm>
          <a:prstGeom prst="rect">
            <a:avLst/>
          </a:prstGeom>
          <a:solidFill>
            <a:srgbClr val="0A0A1A"/>
          </a:solidFill>
          <a:ln w="635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43200"/>
            <a:ext cx="54864" cy="16002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Hardening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2186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HSTS, CSRF, XSS headers. CORS restricted to seekhowithrua.com domains. Rate limiting 30/min anon, 200/min user. Env vars via .env — no secrets in code.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48056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98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44988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auto-runs tests on every push. Build fails = deploy blocked. main branch protected — PRs required. pre-commit hooks catch secrets. Vercel + Render auto-deploy on merge.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YOUTUBE-STYLE RECOMMENDATION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Ranked By Who You Are + What Others Did — Not Just Search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192024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 — Who You 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Your current course (e.g. data-science)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Your interests (it_tech, spiritual, debate...)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Your panel history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 on platform + upvotes received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931920" cy="1920240"/>
          </a:xfrm>
          <a:prstGeom prst="rect">
            <a:avLst/>
          </a:prstGeom>
          <a:solidFill>
            <a:srgbClr val="0A0A1A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14400"/>
            <a:ext cx="54864" cy="1920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 — What Others Did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Co-occurrence: joined A then B → suggest 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Panel quality score (avg session time)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Trending: peak concurrent join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2064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Similar users from same course/college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8595360" cy="685800"/>
          </a:xfrm>
          <a:prstGeom prst="rect">
            <a:avLst/>
          </a:prstGeom>
          <a:solidFill>
            <a:srgbClr val="0A0A1A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Score Formula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(course_match×50) + (interest_match×30) + (co_occurrence×20) + (quality×15) + (trending×10) − (age_hours×0.5)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2697480" cy="347472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study data-science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3822192"/>
            <a:ext cx="2697480" cy="347472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who joined your panels also joined...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822192"/>
            <a:ext cx="2697480" cy="347472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right now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27939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labelled rows shown to every user — same UX as YouTube "Because you watched"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RUA PHILOSOPHY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Unique Allrounder — The Human AI Cannot Replace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01752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74320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Brain Function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Math &amp; Coding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Left brain — logical, sequential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Problem solving, structure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Dance, Art, Mimicry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Right brain — creative, spatial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Innovation, design thinking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Kung Fu, Sports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Cerebellum + testosterone regulation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Focus, discipline, resilience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Memory Training (WMSC)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Hippocampus — long-term encoding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10x retention, speed learning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NLP &amp; Communication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Broca's area — language, persuasion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Leadership, negotiation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Meditation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Prefrontal cortex — calm decisions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Emotional intelligence, clarity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133088"/>
            <a:ext cx="8412480" cy="365760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1330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all brain systems activate together — no machine can replace that human." — Master Rua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Proof: 10–15 schools trained  ·  Students memorized 400 numbers in 21 days  ·  75+ active mentees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 is built on peer-reviewed science — not opinion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54864" cy="9601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in 24hrs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 1885 · PLOS ONE 2015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987552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87552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51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440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boost — gamification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64408" y="16642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Dichev &amp; Dicheva 2023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987552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87552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051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4476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retention — visual learning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16642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Mayer, Cambridge 2009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176272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76272"/>
            <a:ext cx="54864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4048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memorized in 40 days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Dresler et al., Neuron 2017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54680" y="2176272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176272"/>
            <a:ext cx="54864" cy="9601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64408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Employable Indian engineers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64408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NASSCOM-McKinsey 2023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2176272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176272"/>
            <a:ext cx="54864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44768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boost from physical training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Hillman et al., BJSM 2019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93008"/>
            <a:ext cx="8595360" cy="32004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930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backed by research. We are the most scientifically-grounded EdTech in India.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 beats every competitor on every dimension that matters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7490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2194560"/>
              </a:tblGrid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LinkedIn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CodeChef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Coursera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🚀 Seekho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3D Visual AI Courses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0A0B8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Full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Memory Science (WMSC)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Free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Live Voice Rooms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Free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3D Battle Games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Full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Skill-Based Hiring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0A0B8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0A0B8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</a:rPr>
                        <a:t>✅ Smart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Google OAuth + Payments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0A0B8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0A0B8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0A0B8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Full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Panel Ad Monetisation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1K Followers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RUA Title / Allrounder System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✅ Unique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in the world has ALL of these combined.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Revenue Streams  ·  LTV ₹15,000  ·  CAC ₹150  ·  Gross Margin 72%  ·  Payback 1 Month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3840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297680" y="804672"/>
            <a:ext cx="45720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97680" y="80467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5696" y="841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92624" y="850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92624" y="10515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₹149–499/mo / ₹999 B2B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97680" y="1380744"/>
            <a:ext cx="45720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380744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25696" y="1417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92624" y="1426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Ads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92624" y="16276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AdSense + brand sponsorships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97680" y="1956816"/>
            <a:ext cx="45720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1956816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25696" y="1993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92624" y="2002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Economy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92624" y="22037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Skins, power-ups, tournaments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297680" y="2532888"/>
            <a:ext cx="45720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97680" y="2532888"/>
            <a:ext cx="54864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25696" y="25694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992624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Commission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992624" y="27797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creator earnings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297680" y="3108960"/>
            <a:ext cx="4572000" cy="502920"/>
          </a:xfrm>
          <a:prstGeom prst="rect">
            <a:avLst/>
          </a:prstGeom>
          <a:solidFill>
            <a:srgbClr val="0A0A1A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97680" y="3108960"/>
            <a:ext cx="54864" cy="5029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25696" y="31455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992624" y="3154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B2B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92624" y="3355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$10K–$100K/yr hiring licenses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74320" y="3767328"/>
            <a:ext cx="1627632" cy="457200"/>
          </a:xfrm>
          <a:prstGeom prst="rect">
            <a:avLst/>
          </a:prstGeom>
          <a:solidFill>
            <a:srgbClr val="0A0A1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3785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274320" y="403250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011680" y="3767328"/>
            <a:ext cx="1627632" cy="457200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11680" y="3785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2011680" y="403250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749040" y="3767328"/>
            <a:ext cx="1627632" cy="457200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49040" y="3785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749040" y="403250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486400" y="3767328"/>
            <a:ext cx="1627632" cy="45720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3785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486400" y="403250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223760" y="3767328"/>
            <a:ext cx="1627632" cy="457200"/>
          </a:xfrm>
          <a:prstGeom prst="rect">
            <a:avLst/>
          </a:prstGeom>
          <a:solidFill>
            <a:srgbClr val="0A0A1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23760" y="3785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223760" y="403250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74320" y="43159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Profit-share model for early investors  ·  Scale to crores  ·  Path to Shark Tank / Angel round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Razorpay — 4 tiers (UPI, cards, net banking)  ·  🔐 Google OAuth — frictionless onboarding  ·  📢 AdSense in-room ads — live at 1K followers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world's largest untapped EdTech market — and we're built for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24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EdTech 2030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36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IBEF / Invest India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54864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24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$353B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2030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636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MarketsandMarkets 2025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96012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024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36592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 CAGR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1636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India 2025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19202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960120"/>
            <a:ext cx="54864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024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12864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Students India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12864" y="1636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AISHE Report 2024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176272"/>
            <a:ext cx="1609344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523744"/>
            <a:ext cx="1609344" cy="320040"/>
          </a:xfrm>
          <a:prstGeom prst="rect">
            <a:avLst/>
          </a:prstGeom>
          <a:solidFill>
            <a:srgbClr val="0A0A1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23744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Lacs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843784"/>
            <a:ext cx="1609344" cy="731520"/>
          </a:xfrm>
          <a:prstGeom prst="rect">
            <a:avLst/>
          </a:prstGeom>
          <a:solidFill>
            <a:srgbClr val="0A0A1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8803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· 5K Users · Seed Breakeven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993392" y="2176272"/>
            <a:ext cx="160934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217627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93392" y="2523744"/>
            <a:ext cx="1609344" cy="320040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2523744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Lacs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993392" y="2843784"/>
            <a:ext cx="1609344" cy="731520"/>
          </a:xfrm>
          <a:prstGeom prst="rect">
            <a:avLst/>
          </a:prstGeom>
          <a:solidFill>
            <a:srgbClr val="0A0A1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8256" y="28803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 Users · Creator Program · Angel Round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12464" y="2176272"/>
            <a:ext cx="1609344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12464" y="217627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12464" y="2523744"/>
            <a:ext cx="1609344" cy="320040"/>
          </a:xfrm>
          <a:prstGeom prst="rect">
            <a:avLst/>
          </a:prstGeom>
          <a:solidFill>
            <a:srgbClr val="0A0A1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12464" y="2523744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Cr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712464" y="2843784"/>
            <a:ext cx="1609344" cy="731520"/>
          </a:xfrm>
          <a:prstGeom prst="rect">
            <a:avLst/>
          </a:prstGeom>
          <a:solidFill>
            <a:srgbClr val="0A0A1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28803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Users · B2B Hiring · Series 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31536" y="2176272"/>
            <a:ext cx="1609344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31536" y="217627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31536" y="2523744"/>
            <a:ext cx="1609344" cy="320040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2523744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 Cr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31536" y="2843784"/>
            <a:ext cx="1609344" cy="731520"/>
          </a:xfrm>
          <a:prstGeom prst="rect">
            <a:avLst/>
          </a:prstGeom>
          <a:solidFill>
            <a:srgbClr val="0A0A1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28803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Full Game · Series B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50608" y="2176272"/>
            <a:ext cx="160934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217627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50608" y="2523744"/>
            <a:ext cx="1609344" cy="32004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2523744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Cr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150608" y="2843784"/>
            <a:ext cx="1609344" cy="731520"/>
          </a:xfrm>
          <a:prstGeom prst="rect">
            <a:avLst/>
          </a:prstGeom>
          <a:solidFill>
            <a:srgbClr val="0A0A1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28803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Prep · Global Expansion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seekhowithrua.com is LIVE today  ·  192 URLs indexed in Google  ·  Django API + React App deployed  ·  Voice Rooms live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ASK +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Seed: ₹2–5 Lacs  ·  No Equity Dilution  ·  Profit Share from Month 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02996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2029968" cy="713232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5087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Infra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" y="17739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Render, AWS, game dev, CI/CD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932688"/>
            <a:ext cx="202996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932688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432304" y="1463040"/>
            <a:ext cx="2029968" cy="713232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5087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05456" y="17739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 courses, animations, games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08576" y="932688"/>
            <a:ext cx="202996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932688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608576" y="1463040"/>
            <a:ext cx="2029968" cy="713232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5087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1728" y="17739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community, SEO, outreach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84848" y="932688"/>
            <a:ext cx="2029968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932688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784848" y="1463040"/>
            <a:ext cx="2029968" cy="713232"/>
          </a:xfrm>
          <a:prstGeom prst="rect">
            <a:avLst/>
          </a:prstGeom>
          <a:solidFill>
            <a:srgbClr val="0A0A1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5087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177393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tools, Razorpay, Google OAuth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2359152"/>
            <a:ext cx="2743200" cy="566928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359152"/>
            <a:ext cx="1005840" cy="56692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239572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35024" y="241401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+ 50 Visual Courses + Memory Arena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163824" y="2359152"/>
            <a:ext cx="2743200" cy="566928"/>
          </a:xfrm>
          <a:prstGeom prst="rect">
            <a:avLst/>
          </a:prstGeom>
          <a:solidFill>
            <a:srgbClr val="0A0A1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3824" y="2359152"/>
            <a:ext cx="1005840" cy="56692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39572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42816" y="241401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Rooms + Google OAuth + Razorpay Payments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071616" y="2359152"/>
            <a:ext cx="2743200" cy="566928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1616" y="2359152"/>
            <a:ext cx="1005840" cy="56692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39572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0608" y="2414016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+ Unity Mini-Game + In-Room Ads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256032" y="3017520"/>
            <a:ext cx="2743200" cy="566928"/>
          </a:xfrm>
          <a:prstGeom prst="rect">
            <a:avLst/>
          </a:prstGeom>
          <a:solidFill>
            <a:srgbClr val="0A0A1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017520"/>
            <a:ext cx="1005840" cy="566928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05409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35024" y="307238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Rooms + B2B Enterprise + 1L Users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163824" y="3017520"/>
            <a:ext cx="2743200" cy="566928"/>
          </a:xfrm>
          <a:prstGeom prst="rect">
            <a:avLst/>
          </a:prstGeom>
          <a:solidFill>
            <a:srgbClr val="0A0A1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63824" y="3017520"/>
            <a:ext cx="1005840" cy="566928"/>
          </a:xfrm>
          <a:prstGeom prst="rect">
            <a:avLst/>
          </a:prstGeom>
          <a:solidFill>
            <a:srgbClr val="9333EA">
              <a:alpha val="20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18688" y="305409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42816" y="307238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Battle Game + Memory Competitions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071616" y="3017520"/>
            <a:ext cx="2743200" cy="566928"/>
          </a:xfrm>
          <a:prstGeom prst="rect">
            <a:avLst/>
          </a:prstGeom>
          <a:solidFill>
            <a:srgbClr val="0A0A1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71616" y="3017520"/>
            <a:ext cx="1005840" cy="566928"/>
          </a:xfrm>
          <a:prstGeom prst="rect">
            <a:avLst/>
          </a:prstGeom>
          <a:solidFill>
            <a:srgbClr val="E24B4A">
              <a:alpha val="20000"/>
            </a:srgbClr>
          </a:solidFill>
          <a:ln w="12700">
            <a:solidFill>
              <a:srgbClr val="E24B4A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05409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50608" y="307238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 + VR Rooms + Shark Tank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56032" y="3767328"/>
            <a:ext cx="8631936" cy="347472"/>
          </a:xfrm>
          <a:prstGeom prst="rect">
            <a:avLst/>
          </a:prstGeom>
          <a:solidFill>
            <a:srgbClr val="0A0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76732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 Lacs today → ₹Crores in 3 years  ·  Profit sharing from Month 1  ·  Investor + Founder aligned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/mnt/user-data/uploads/MasterRua_Logo_Ref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914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INDIA'S BIGGEST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487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ECOSYSTEM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a Rider, Not a Runner."  — Master Rua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371600" y="3749040"/>
            <a:ext cx="6400800" cy="914400"/>
          </a:xfrm>
          <a:prstGeom prst="rect">
            <a:avLst/>
          </a:prstGeom>
          <a:solidFill>
            <a:srgbClr val="0A0A1A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71600" y="3749040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08760" y="382219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seekhowithrua.com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08760" y="409651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master@seekhowithrua.com  ·  WhatsApp: 8826776018  ·  @seekhowithrua_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431596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seekhowithrua@gmail.com  ·  youtube.com/@seekhowithrua_  ·  instagram.com/seekhowithrua_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·  CONFIDENTIAL  ·  SEEKHOWITHRUA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SeekhoWithRua Investor Pitch 2026</dc:title>
  <dc:subject>PptxGenJS Presentation</dc:subject>
  <dc:creator>Master Rua (Sachin Kumar)</dc:creator>
  <cp:lastModifiedBy>Master Rua (Sachin Kumar)</cp:lastModifiedBy>
  <cp:revision>1</cp:revision>
  <dcterms:created xsi:type="dcterms:W3CDTF">2026-03-20T23:01:56Z</dcterms:created>
  <dcterms:modified xsi:type="dcterms:W3CDTF">2026-03-20T23:01:56Z</dcterms:modified>
</cp:coreProperties>
</file>