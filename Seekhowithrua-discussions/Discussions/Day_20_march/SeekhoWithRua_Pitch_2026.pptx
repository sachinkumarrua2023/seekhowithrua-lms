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800" b="0" i="0" u="none" strike="noStrike">
                <a:solidFill>
                  <a:srgbClr val="FFFFFF"/>
                </a:solidFill>
                <a:latin typeface="Arial"/>
              </a:rPr>
              <a:t>5-Year Revenue (₹ Lacs)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Lacs)</c:v>
                </c:pt>
              </c:strCache>
            </c:strRef>
          </c:tx>
          <c:spPr>
            <a:solidFill>
              <a:srgbClr val="0088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8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8A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88A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25</c:v>
                </c:pt>
                <c:pt idx="2">
                  <c:v>150</c:v>
                </c:pt>
                <c:pt idx="3">
                  <c:v>600</c:v>
                </c:pt>
                <c:pt idx="4">
                  <c:v>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E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3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E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15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B9EC7"/>
                </a:solidFill>
              </a:rPr>
              <a:t>INVESTOR PITCH  •  CONFIDENTIAL  • 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SEEKHO</a:t>
            </a:r>
            <a:pPr algn="ctr" indent="0" marL="0">
              <a:buNone/>
            </a:pPr>
            <a:r>
              <a:rPr lang="en-US" sz="5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</a:t>
            </a:r>
            <a:pPr algn="ctr" indent="0" marL="0">
              <a:buNone/>
            </a:pPr>
            <a:r>
              <a:rPr lang="en-US" sz="5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D4FF"/>
                </a:solidFill>
              </a:rPr>
              <a:t>Be a Rider, Not a Runner.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EC7"/>
                </a:solidFill>
              </a:rPr>
              <a:t>India's First AI + Gamified + Memory-Science Learning Ecosystem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3291840"/>
            <a:ext cx="2011680" cy="118872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3291840"/>
            <a:ext cx="20116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429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$29B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EC7"/>
                </a:solidFill>
              </a:rPr>
              <a:t>India EdTech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3291840"/>
            <a:ext cx="2011680" cy="118872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0" y="3291840"/>
            <a:ext cx="20116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3429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500M+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65760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EC7"/>
                </a:solidFill>
              </a:rPr>
              <a:t>Target Learners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291840"/>
            <a:ext cx="2011680" cy="118872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291840"/>
            <a:ext cx="20116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429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₹2–5L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1792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EC7"/>
                </a:solidFill>
              </a:rPr>
              <a:t>Seed Ask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47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C7"/>
                </a:solidFill>
              </a:rPr>
              <a:t>seekhowithrua.com  •  Master Rua (Sachin Kumar)  •  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C7"/>
                </a:solidFill>
              </a:rPr>
              <a:t>Why India's Education System is Failing 500M Students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743200" cy="155448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27432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1234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📉  70% Forgotten in 24 Hours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61848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</a:rPr>
              <a:t>Ebbinghaus Forgetting Curve — confirmed by PLOS ONE 2015. Passive learning = passive forgetting.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143000"/>
            <a:ext cx="2743200" cy="155448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43000"/>
            <a:ext cx="27432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234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🤖  AI Is Replacing Specialists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161848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</a:rPr>
              <a:t>NASSCOM 2023: Only 25% of India's 1.5M annual engineers are employable. One-skill humans are obsolete.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1143000"/>
            <a:ext cx="2743200" cy="155448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143000"/>
            <a:ext cx="27432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190488" y="1234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🎮  Learning is Passive &amp; Boring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90488" y="161848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</a:rPr>
              <a:t>YouTube, Udemy — watch and forget. No interactivity, no retention, no real-world simulation.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880360"/>
            <a:ext cx="2743200" cy="155448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" y="2971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💸  Memory Science Costs ₹Lakhs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33558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</a:rPr>
              <a:t>WMSC-level memory training sold for ₹30K–1L. Zero access for average Indian students.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2880360"/>
            <a:ext cx="2743200" cy="155448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880360"/>
            <a:ext cx="27432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3264408" y="2971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🧩  Skills Live in Silos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64408" y="33558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</a:rPr>
              <a:t>CodeChef, Kaggle, Coursera — no platform unifies AI, gaming, community, memory &amp; monetization.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2880360"/>
            <a:ext cx="2743200" cy="155448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880360"/>
            <a:ext cx="27432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190488" y="2971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🏭  System Built for Factories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0488" y="33558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</a:rPr>
              <a:t>1800s design. For workers who follow instructions. Not thinkers. Not creators. Not allrounders.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47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ONE SOLUTION EXISTS: SeekhoWithRua →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C7"/>
                </a:solidFill>
              </a:rPr>
              <a:t>SeekhoWithRua = LinkedIn + YouTube + CodeChef + Kaggle + Free Fire — Supercharged with AI &amp; Memory Science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743200" cy="164592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2743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2527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3D Visual AI Learning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6459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</a:rPr>
              <a:t>Every concept animated. Memory palace, major system, PAO — WMSC-level. 8 courses. 170+ SEO pages.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743200" cy="164592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743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12527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Hatim Game Mode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16459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</a:rPr>
              <a:t>3D dungeon — real problems block your path. Solve to progress. Free Fire battles with quiz-based armor.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743200" cy="164592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143000"/>
            <a:ext cx="2743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488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12527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Memory Champion Arena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0488" y="16459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</a:rPr>
              <a:t>Techniques worth ₹1 Lakh — FREE. 20x memory enhancement. Leaderboards. Proven: 400 numbers in 21 days.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91640" y="3017520"/>
            <a:ext cx="2743200" cy="164592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91640" y="3017520"/>
            <a:ext cx="2743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1801368" y="3108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194560" y="3127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Live Voice Rooms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01368" y="35204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</a:rPr>
              <a:t>WebRTC-powered. Learning, hiring, hackathons, debates. 1K followers = monetization unlocked.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3017520"/>
            <a:ext cx="2743200" cy="164592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017520"/>
            <a:ext cx="2743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4727448" y="3108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20640" y="3127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RUA Title System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27448" y="35204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</a:rPr>
              <a:t>Learner Rua → Mr. Rua → Master Rua. Tech + physical + creative skills = irreplaceable human.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47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The only platform: LEARN → PRACTICE → BATTLE → GET HIRED → EARN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RUA PHILOSOPHY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C7"/>
                </a:solidFill>
              </a:rPr>
              <a:t>Right Unique Allrounder — The Human AI Cannot Replace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43000"/>
          <a:ext cx="8686800" cy="301752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Brain Function Activated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</a:rPr>
                        <a:t>Math &amp; Coding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B9EC7"/>
                          </a:solidFill>
                        </a:rPr>
                        <a:t>Left brain — logical, sequential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EE7B7"/>
                          </a:solidFill>
                        </a:rPr>
                        <a:t>Problem solving, structure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</a:rPr>
                        <a:t>Dance, Art, Mimicry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B9EC7"/>
                          </a:solidFill>
                        </a:rPr>
                        <a:t>Right brain — creative, spatial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EE7B7"/>
                          </a:solidFill>
                        </a:rPr>
                        <a:t>Innovation, design thinking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</a:rPr>
                        <a:t>Kung Fu, Sports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B9EC7"/>
                          </a:solidFill>
                        </a:rPr>
                        <a:t>Cerebellum + testosterone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EE7B7"/>
                          </a:solidFill>
                        </a:rPr>
                        <a:t>Focus, discipline, resilience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</a:rPr>
                        <a:t>Memory Training (WMSC)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B9EC7"/>
                          </a:solidFill>
                        </a:rPr>
                        <a:t>Hippocampus — long-term encoding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EE7B7"/>
                          </a:solidFill>
                        </a:rPr>
                        <a:t>10x retention, speed learning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</a:rPr>
                        <a:t>NLP &amp; Communication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B9EC7"/>
                          </a:solidFill>
                        </a:rPr>
                        <a:t>Broca's area — language, persuasion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EE7B7"/>
                          </a:solidFill>
                        </a:rPr>
                        <a:t>Leadership, negotiation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</a:rPr>
                        <a:t>Meditation, Spirituality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B9EC7"/>
                          </a:solidFill>
                        </a:rPr>
                        <a:t>Prefrontal cortex — calm decisions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EE7B7"/>
                          </a:solidFill>
                        </a:rPr>
                        <a:t>Emotional intelligence, clarity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4297680"/>
            <a:ext cx="8686800" cy="502920"/>
          </a:xfrm>
          <a:prstGeom prst="rect">
            <a:avLst/>
          </a:prstGeom>
          <a:solidFill>
            <a:srgbClr val="1E2347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3434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D4FF"/>
                </a:solidFill>
              </a:rPr>
              <a:t>"When all brain systems activate together — no machine can replace that human." — Master Rua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47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C7"/>
                </a:solidFill>
              </a:rPr>
              <a:t>Ground Proof: 10–15 schools trained · Students memorized 400 numbers in 21 days · 75+ active mentees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VALIDATION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C7"/>
                </a:solidFill>
              </a:rPr>
              <a:t>SeekhoWithRua is built on peer-reviewed science — not opinion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743200" cy="160020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2743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12344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FF"/>
                </a:solidFill>
              </a:rPr>
              <a:t>70%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38328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Forgotten in 24hrs (passive learning)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" y="23134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EC7"/>
                </a:solidFill>
              </a:rPr>
              <a:t>Ebbinghaus 1885 · PLOS ONE 2015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743200" cy="160020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743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12344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FF"/>
                </a:solidFill>
              </a:rPr>
              <a:t>40%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64408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Retention boost with gamification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64408" y="23134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EC7"/>
                </a:solidFill>
              </a:rPr>
              <a:t>Dichev &amp; Dicheva, Educ. Research Review 2023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743200" cy="160020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143000"/>
            <a:ext cx="2743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488" y="12344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FF"/>
                </a:solidFill>
              </a:rPr>
              <a:t>6×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190488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Longer retention with visual + verbal (dual coding)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90488" y="23134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EC7"/>
                </a:solidFill>
              </a:rPr>
              <a:t>Mayer, Cambridge Univ. Press 2009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" y="2926080"/>
            <a:ext cx="2743200" cy="160020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926080"/>
            <a:ext cx="2743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" y="30175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FF"/>
                </a:solidFill>
              </a:rPr>
              <a:t>72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338328" y="3611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Words memorized in sequence after 40 days training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" y="4096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EC7"/>
                </a:solidFill>
              </a:rPr>
              <a:t>Dresler et al., Neuron 93(5), 2017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54680" y="2926080"/>
            <a:ext cx="2743200" cy="160020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926080"/>
            <a:ext cx="2743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3264408" y="30175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FF"/>
                </a:solidFill>
              </a:rPr>
              <a:t>25%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3264408" y="3611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Only Indian engineers who are employable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64408" y="4096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EC7"/>
                </a:solidFill>
              </a:rPr>
              <a:t>NASSCOM-McKinsey Report 2023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80760" y="2926080"/>
            <a:ext cx="2743200" cy="160020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2926080"/>
            <a:ext cx="2743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6190488" y="30175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FF"/>
                </a:solidFill>
              </a:rPr>
              <a:t>30%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6190488" y="3611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Cognitive boost from physical training (Kung Fu, dance)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90488" y="4096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EC7"/>
                </a:solidFill>
              </a:rPr>
              <a:t>Hillman et al., BJSM 2019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47"/>
          </a:solidFill>
          <a:ln/>
        </p:spPr>
      </p:sp>
      <p:sp>
        <p:nvSpPr>
          <p:cNvPr id="36" name="Text 34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Every feature is backed by research. We are the most scientifically-grounded EdTech in India.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ADVANTAGE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C7"/>
                </a:solidFill>
              </a:rPr>
              <a:t>SeekhoWithRua beats every competitor on every dimension that matters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97280"/>
          <a:ext cx="8686800" cy="36576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1371600"/>
                <a:gridCol w="201168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LinkedIn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CodeChef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Coursera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🚀 Seekho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</a:rPr>
                        <a:t>3D Visual AI Courses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B9EC7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EE7B7"/>
                          </a:solidFill>
                        </a:rPr>
                        <a:t>✅ Full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</a:rPr>
                        <a:t>Memory Science (WMSC)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EE7B7"/>
                          </a:solidFill>
                        </a:rPr>
                        <a:t>✅ Free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</a:rPr>
                        <a:t>Live Voice Rooms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EE7B7"/>
                          </a:solidFill>
                        </a:rPr>
                        <a:t>✅ Free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</a:rPr>
                        <a:t>3D Battle Games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EE7B7"/>
                          </a:solidFill>
                        </a:rPr>
                        <a:t>✅ Full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</a:rPr>
                        <a:t>Skill-Based Hiring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B9EC7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B9EC7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EE7B7"/>
                          </a:solidFill>
                        </a:rPr>
                        <a:t>✅ Smart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</a:rPr>
                        <a:t>Hackathon Hosting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B9EC7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EE7B7"/>
                          </a:solidFill>
                        </a:rPr>
                        <a:t>✅ In-Platform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</a:rPr>
                        <a:t>Creator Monetization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B9EC7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EE7B7"/>
                          </a:solidFill>
                        </a:rPr>
                        <a:t>✅ 1K Followers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</a:rPr>
                        <a:t>RUA Title / Allrounder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EE7B7"/>
                          </a:solidFill>
                        </a:rPr>
                        <a:t>✅ Unique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47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No single platform in the world has ALL of these features combined.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MONETIZATION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EC7"/>
                </a:solidFill>
              </a:rPr>
              <a:t>5 revenue streams · LTV ₹15,000 · CAC ₹150 · Gross Margin 72% · Payback 1 Month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4389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937760" y="1005840"/>
            <a:ext cx="3931920" cy="54864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937760" y="1005840"/>
            <a:ext cx="54864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5074920" y="10515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35%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15000" y="1051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Subscriptions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0" y="12984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EC7"/>
                </a:solidFill>
              </a:rPr>
              <a:t>Free / ₹149–499/mo / ₹999 B2B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937760" y="1664208"/>
            <a:ext cx="3931920" cy="54864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664208"/>
            <a:ext cx="54864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5074920" y="17099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25%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15000" y="1709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Advertising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15000" y="19568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EC7"/>
                </a:solidFill>
              </a:rPr>
              <a:t>In-room targeted, course banners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37760" y="2322576"/>
            <a:ext cx="3931920" cy="54864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937760" y="2322576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5074920" y="236829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20%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715000" y="23682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In-Game Economy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15000" y="26151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EC7"/>
                </a:solidFill>
              </a:rPr>
              <a:t>Skins, power-ups, tournaments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937760" y="2980944"/>
            <a:ext cx="3931920" cy="54864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937760" y="2980944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0"/>
          <p:cNvSpPr/>
          <p:nvPr/>
        </p:nvSpPr>
        <p:spPr>
          <a:xfrm>
            <a:off x="5074920" y="30266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15%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715000" y="3026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Creator Commission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715000" y="32735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EC7"/>
                </a:solidFill>
              </a:rPr>
              <a:t>30% of creator earnings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937760" y="3639312"/>
            <a:ext cx="3931920" cy="54864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937760" y="3639312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5"/>
          <p:cNvSpPr/>
          <p:nvPr/>
        </p:nvSpPr>
        <p:spPr>
          <a:xfrm>
            <a:off x="5074920" y="368503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5%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715000" y="3685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Enterprise B2B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715000" y="39319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EC7"/>
                </a:solidFill>
              </a:rPr>
              <a:t>$10K–$100K/yr hiring licenses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28600" y="4160520"/>
            <a:ext cx="8686800" cy="594360"/>
          </a:xfrm>
          <a:prstGeom prst="rect">
            <a:avLst/>
          </a:prstGeom>
          <a:solidFill>
            <a:srgbClr val="1E2347"/>
          </a:solidFill>
          <a:ln/>
        </p:spPr>
      </p:sp>
      <p:sp>
        <p:nvSpPr>
          <p:cNvPr id="32" name="Text 29"/>
          <p:cNvSpPr/>
          <p:nvPr/>
        </p:nvSpPr>
        <p:spPr>
          <a:xfrm>
            <a:off x="365760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LTV ₹15,000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103120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CAC ₹150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840480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LTV:CAC = 100×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577840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Margin 72%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315200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Payback 1 Mo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47"/>
          </a:solidFill>
          <a:ln/>
        </p:spPr>
      </p:sp>
      <p:sp>
        <p:nvSpPr>
          <p:cNvPr id="38" name="Text 35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C7"/>
                </a:solidFill>
              </a:rPr>
              <a:t>Profit-share model for early investors · Scale to crores · Path to Shark Tank / Angel round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C7"/>
                </a:solidFill>
              </a:rPr>
              <a:t>India is the world's largest untapped EdTech market — and we're built for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155448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92024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</a:rPr>
              <a:t>$29B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8836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India EdTech by 2030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EC7"/>
                </a:solidFill>
              </a:rPr>
              <a:t>IBEF / Invest India 2025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50592" y="1097280"/>
            <a:ext cx="1920240" cy="155448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97280"/>
            <a:ext cx="19202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$353B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42032" y="18836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Global EdTech by 2030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42032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EC7"/>
                </a:solidFill>
              </a:rPr>
              <a:t>MarketsandMarkets 2025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26864" y="1097280"/>
            <a:ext cx="1920240" cy="155448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09728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864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25.8%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18304" y="18836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India Market CAGR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18304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EC7"/>
                </a:solidFill>
              </a:rPr>
              <a:t>Invest India 2025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03136" y="1097280"/>
            <a:ext cx="1920240" cy="155448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09728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136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</a:rPr>
              <a:t>500M+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94576" y="18836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Target Students (India)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94576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EC7"/>
                </a:solidFill>
              </a:rPr>
              <a:t>AISHE Report 2024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8600" y="2834640"/>
            <a:ext cx="1600200" cy="173736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834640"/>
            <a:ext cx="1600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301752" y="28803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EC7"/>
                </a:solidFill>
              </a:rPr>
              <a:t>YEAR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1752" y="315468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₹5 Lacs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01752" y="3639312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EC7"/>
                </a:solidFill>
              </a:rPr>
              <a:t>MVP Live · 5K Users · Seed Breakeven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993392" y="2834640"/>
            <a:ext cx="1600200" cy="173736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993392" y="2834640"/>
            <a:ext cx="1600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2066544" y="28803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EC7"/>
                </a:solidFill>
              </a:rPr>
              <a:t>YEAR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066544" y="315468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₹25 Lacs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066544" y="3639312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EC7"/>
                </a:solidFill>
              </a:rPr>
              <a:t>1L Users · Creator Program · Angel Round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758184" y="2834640"/>
            <a:ext cx="1600200" cy="173736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758184" y="2834640"/>
            <a:ext cx="1600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7" name="Text 35"/>
          <p:cNvSpPr/>
          <p:nvPr/>
        </p:nvSpPr>
        <p:spPr>
          <a:xfrm>
            <a:off x="3831336" y="28803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EC7"/>
                </a:solidFill>
              </a:rPr>
              <a:t>YEAR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31336" y="315468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₹1.5 Cr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831336" y="3639312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EC7"/>
                </a:solidFill>
              </a:rPr>
              <a:t>1M Users · B2B Hiring · Series 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522976" y="2834640"/>
            <a:ext cx="1600200" cy="173736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522976" y="2834640"/>
            <a:ext cx="1600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2" name="Text 40"/>
          <p:cNvSpPr/>
          <p:nvPr/>
        </p:nvSpPr>
        <p:spPr>
          <a:xfrm>
            <a:off x="5596128" y="28803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EC7"/>
                </a:solidFill>
              </a:rPr>
              <a:t>YEAR 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96128" y="315468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₹6 Cr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596128" y="3639312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EC7"/>
                </a:solidFill>
              </a:rPr>
              <a:t>Enterprise + Full Game · Series B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287768" y="2834640"/>
            <a:ext cx="1600200" cy="173736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287768" y="2834640"/>
            <a:ext cx="1600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7" name="Text 45"/>
          <p:cNvSpPr/>
          <p:nvPr/>
        </p:nvSpPr>
        <p:spPr>
          <a:xfrm>
            <a:off x="7360920" y="28803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EC7"/>
                </a:solidFill>
              </a:rPr>
              <a:t>YEAR 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60920" y="315468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₹20 Cr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60920" y="3639312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EC7"/>
                </a:solidFill>
              </a:rPr>
              <a:t>IPO Prep · Global Expansion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47"/>
          </a:solidFill>
          <a:ln/>
        </p:spPr>
      </p:sp>
      <p:sp>
        <p:nvSpPr>
          <p:cNvPr id="51" name="Text 49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</a:rPr>
              <a:t>seekhowithrua.com is LIVE today · 170+ SEO pages indexed · Django API + React App deployed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INVESTMENT ASK +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</a:rPr>
              <a:t>Initial Seed: ₹2–5 Lacs  ·  No Equity Dilution  ·  Profit Share from Month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137160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01168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40%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 &amp; Infra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C7"/>
                </a:solidFill>
              </a:rPr>
              <a:t>Vercel, Render, AWS, game dev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005840"/>
            <a:ext cx="2011680" cy="137160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05840"/>
            <a:ext cx="201168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</a:rPr>
              <a:t>25%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603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Content Creation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C7"/>
                </a:solidFill>
              </a:rPr>
              <a:t>3D visual courses, animations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2011680" cy="137160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005840"/>
            <a:ext cx="20116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20%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006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C7"/>
                </a:solidFill>
              </a:rPr>
              <a:t>YouTube, community, outreach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1005840"/>
            <a:ext cx="2011680" cy="137160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1005840"/>
            <a:ext cx="20116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15%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04088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C7"/>
                </a:solidFill>
              </a:rPr>
              <a:t>Legal, tools, team onboarding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606040"/>
            <a:ext cx="2743200" cy="73152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606040"/>
            <a:ext cx="54864" cy="7315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6609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Q2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2898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SEO + 50 Visual Courses + Memory Arena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54680" y="2606040"/>
            <a:ext cx="2743200" cy="73152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2606040"/>
            <a:ext cx="54864" cy="7315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26609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Q3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0" y="2898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Voice Rooms + Creator Monetization (1K)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0760" y="2606040"/>
            <a:ext cx="2743200" cy="73152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0760" y="2606040"/>
            <a:ext cx="54864" cy="7315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26609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Q4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0" y="2898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Mobile Apps + Unity Mini-Game + Hackathons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3520440"/>
            <a:ext cx="2743200" cy="73152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3520440"/>
            <a:ext cx="54864" cy="7315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5753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Q1 2027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3813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Hiring Rooms + B2B Enterprise + 1L Users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154680" y="3520440"/>
            <a:ext cx="2743200" cy="73152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154680" y="3520440"/>
            <a:ext cx="54864" cy="7315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3" name="Text 41"/>
          <p:cNvSpPr/>
          <p:nvPr/>
        </p:nvSpPr>
        <p:spPr>
          <a:xfrm>
            <a:off x="3291840" y="35753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Q2 2027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91840" y="3813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Full 3D Battle Game + Memory Competitions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80760" y="3520440"/>
            <a:ext cx="2743200" cy="731520"/>
          </a:xfrm>
          <a:prstGeom prst="rect">
            <a:avLst/>
          </a:prstGeom>
          <a:solidFill>
            <a:srgbClr val="1215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80760" y="3520440"/>
            <a:ext cx="54864" cy="7315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0" y="35753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2027+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17920" y="3813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Global Expansion + VR Rooms + Shark Tank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A"/>
                </a:solidFill>
              </a:rPr>
              <a:t>₹2–5 Lacs today → ₹Crores in 3 years  ·  Profit sharing from Month 1  ·  Investor + Founder aligned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9E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 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INDIA'S BIGGEST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 ECOSYSTEM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TOGETHER.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EC7"/>
                </a:solidFill>
              </a:rPr>
              <a:t>"Be a Rider, Not a Runner."  — Master Rua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seekhowithrua.com  ·  master@seekhowithrua.com  ·  @seekhowithrua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47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9EC7"/>
                </a:solidFill>
              </a:rPr>
              <a:t>INVESTOR PITCH DECK  ·  CONFIDENTIAL  ·  SEEKHOWITHRUA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SeekhoWithRua Investor Pitch 2026</dc:title>
  <dc:subject>PptxGenJS Presentation</dc:subject>
  <dc:creator>PptxGenJS</dc:creator>
  <cp:lastModifiedBy>PptxGenJS</cp:lastModifiedBy>
  <cp:revision>1</cp:revision>
  <dcterms:created xsi:type="dcterms:W3CDTF">2026-03-19T23:55:50Z</dcterms:created>
  <dcterms:modified xsi:type="dcterms:W3CDTF">2026-03-19T23:55:50Z</dcterms:modified>
</cp:coreProperties>
</file>